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F4E79"/>
                </a:solidFill>
                <a:latin typeface="Arial"/>
              </a:defRPr>
            </a:pPr>
            <a:r>
              <a:t>Організація охорони праці на ливарному виробництві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11155680" cy="36576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700">
                <a:solidFill>
                  <a:srgbClr val="282828"/>
                </a:solidFill>
                <a:latin typeface="Arial"/>
              </a:defRPr>
            </a:pPr>
            <a:r>
              <a:t>Дисципліна: Безпека праці та професійної діяльності</a:t>
            </a:r>
          </a:p>
          <a:p>
            <a:pPr>
              <a:spcAft>
                <a:spcPts val="1000"/>
              </a:spcAft>
              <a:defRPr sz="2700">
                <a:solidFill>
                  <a:srgbClr val="282828"/>
                </a:solidFill>
                <a:latin typeface="Arial"/>
              </a:defRPr>
            </a:pPr>
            <a:r>
              <a:t>Ливарне виробництво як об'єкт підвищеної небезпеки</a:t>
            </a:r>
          </a:p>
          <a:p>
            <a:pPr>
              <a:spcAft>
                <a:spcPts val="1000"/>
              </a:spcAft>
              <a:defRPr sz="2700">
                <a:solidFill>
                  <a:srgbClr val="282828"/>
                </a:solidFill>
                <a:latin typeface="Arial"/>
              </a:defRPr>
            </a:pPr>
            <a:r>
              <a:t>Мета: визначити систему заходів безпеки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F4E79"/>
                </a:solidFill>
                <a:latin typeface="Arial"/>
              </a:defRPr>
            </a:pPr>
            <a:r>
              <a:t>Актуальність теми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11155680" cy="36576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Високі температури та розплавлений метал</a:t>
            </a:r>
          </a:p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Пил, гази, шум, вібрація, важка фізична праця</a:t>
            </a:r>
          </a:p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Ризик пожеж, вибухів, опіків і травм</a:t>
            </a:r>
          </a:p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Безпека впливає на якість і стабільність виробництва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F4E79"/>
                </a:solidFill>
                <a:latin typeface="Arial"/>
              </a:defRPr>
            </a:pPr>
            <a:r>
              <a:t>Нормативна основа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11155680" cy="36576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Закон України «Про охорону праці»</a:t>
            </a:r>
          </a:p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НПАОП 27.5-1.46-14: правила для ливарного виробництва</a:t>
            </a:r>
          </a:p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НПАОП 0.00-4.12-05: навчання та перевірка знань</a:t>
            </a:r>
          </a:p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Наказ №1804: вимоги до ЗІЗ</a:t>
            </a:r>
          </a:p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ДСН щодо мікроклімату, шуму і вібрації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F4E79"/>
                </a:solidFill>
                <a:latin typeface="Arial"/>
              </a:defRPr>
            </a:pPr>
            <a:r>
              <a:t>Основні ділянки ливарного цеху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11155680" cy="36576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Підготовка шихти</a:t>
            </a:r>
          </a:p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Плавлення металу</a:t>
            </a:r>
          </a:p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Формування і виготовлення стрижнів</a:t>
            </a:r>
          </a:p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Заливання форм</a:t>
            </a:r>
          </a:p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Вибивання, очищення та обрубування виливків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F4E79"/>
                </a:solidFill>
                <a:latin typeface="Arial"/>
              </a:defRPr>
            </a:pPr>
            <a:r>
              <a:t>Небезпечні та шкідливі фактори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11155680" cy="36576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Теплове випромінювання і бризки металу</a:t>
            </a:r>
          </a:p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Пил формувальних матеріалів і металеві аерозолі</a:t>
            </a:r>
          </a:p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Шум і вібрація</a:t>
            </a:r>
          </a:p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Рухомі машини та вантажі</a:t>
            </a:r>
          </a:p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Пожежо- і вибухонебезпечні ситуації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F4E79"/>
                </a:solidFill>
                <a:latin typeface="Arial"/>
              </a:defRPr>
            </a:pPr>
            <a:r>
              <a:t>Система управління охороною праці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11155680" cy="36576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Розподіл відповідальності</a:t>
            </a:r>
          </a:p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Оцінка ризиків і атестація робочих місць</a:t>
            </a:r>
          </a:p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Інструкції та технологічні регламенти</a:t>
            </a:r>
          </a:p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Внутрішній контроль і аудит</a:t>
            </a:r>
          </a:p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Участь працівників у повідомленні небезпек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F4E79"/>
                </a:solidFill>
                <a:latin typeface="Arial"/>
              </a:defRPr>
            </a:pPr>
            <a:r>
              <a:t>Технічні заходи безпеки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11155680" cy="36576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Механізація та дистанційне керування</a:t>
            </a:r>
          </a:p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Огородження, блокування, сигналізація</a:t>
            </a:r>
          </a:p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Контроль стану печей, ковшів і футерівки</a:t>
            </a:r>
          </a:p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Безпечні маршрути руху вантажів</a:t>
            </a:r>
          </a:p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Справна вентиляція і аспірація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F4E79"/>
                </a:solidFill>
                <a:latin typeface="Arial"/>
              </a:defRPr>
            </a:pPr>
            <a:r>
              <a:t>Виробнича санітарія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11155680" cy="36576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Місцева витяжна вентиляція біля джерел пилу і газів</a:t>
            </a:r>
          </a:p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Контроль мікроклімату та теплового навантаження</a:t>
            </a:r>
          </a:p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Зниження шуму і вібрації</a:t>
            </a:r>
          </a:p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Промислове прибирання без піднімання пилу</a:t>
            </a:r>
          </a:p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Санітарно-побутове забезпечення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F4E79"/>
                </a:solidFill>
                <a:latin typeface="Arial"/>
              </a:defRPr>
            </a:pPr>
            <a:r>
              <a:t>ЗІЗ, навчання та медогляди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11155680" cy="36576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Теплостійкий спецодяг, щитки, рукавиці, спецвзуття</a:t>
            </a:r>
          </a:p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Респіратори та захист слуху</a:t>
            </a:r>
          </a:p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Вступний, первинний, повторний і цільовий інструктажі</a:t>
            </a:r>
          </a:p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Спеціальне навчання для робіт підвищеної небезпеки</a:t>
            </a:r>
          </a:p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Попередні та періодичні медичні огляди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F4E79"/>
                </a:solidFill>
                <a:latin typeface="Arial"/>
              </a:defRPr>
            </a:pPr>
            <a:r>
              <a:t>Висновки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11155680" cy="36576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Охорона праці у ливарному виробництві має бути системною</a:t>
            </a:r>
          </a:p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Пріоритет: усунення небезпек у джерелі</a:t>
            </a:r>
          </a:p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ЗІЗ доповнюють, але не замінюють технічні заходи</a:t>
            </a:r>
          </a:p>
          <a:p>
            <a:pPr>
              <a:spcAft>
                <a:spcPts val="1000"/>
              </a:spcAft>
              <a:defRPr sz="2500">
                <a:solidFill>
                  <a:srgbClr val="282828"/>
                </a:solidFill>
                <a:latin typeface="Arial"/>
              </a:defRPr>
            </a:pPr>
            <a:r>
              <a:t>Культура безпеки зменшує травматизм, брак і простої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